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3"/>
  </p:notesMasterIdLst>
  <p:sldIdLst>
    <p:sldId id="58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DC"/>
    <a:srgbClr val="F97600"/>
    <a:srgbClr val="DD334C"/>
    <a:srgbClr val="0F1689"/>
    <a:srgbClr val="E7157B"/>
    <a:srgbClr val="326CE5"/>
    <a:srgbClr val="02A88D"/>
    <a:srgbClr val="ED7100"/>
    <a:srgbClr val="DE69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60"/>
    <p:restoredTop sz="94635"/>
  </p:normalViewPr>
  <p:slideViewPr>
    <p:cSldViewPr snapToGrid="0">
      <p:cViewPr varScale="1">
        <p:scale>
          <a:sx n="115" d="100"/>
          <a:sy n="115" d="100"/>
        </p:scale>
        <p:origin x="10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50A91-A875-0644-8DFD-148F1E9E60EE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EBBC-9784-8041-A723-768580BA6E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728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69F1B-E8DA-8A82-FB7B-19F47520D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D821E8-F60E-34B0-28E0-6D0F36466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E3EE80-7860-521E-2661-E407DE74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77C18-4352-42C8-FFBE-AEBB4E3A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567EE7-1906-4833-86E5-D860FCF6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070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15B93-423A-2F72-C528-A9DD1E9A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39A79-E608-BA35-628F-38C18064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60E4E0-7574-7766-D200-4A2C23DD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23090-02E7-53D4-6AA0-AE08B41C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D54BC-0000-6832-B46C-2266BBE2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689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B8AB9-DD59-709A-7962-27E74D5A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585681-5798-6F9B-F54E-CFFDDA8B5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EF012-4FEA-7AA6-0645-31016B88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07432C-FD9E-7AE7-8331-C2151AEF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1DD278-0F89-820A-D936-79816248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32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D32D5-CED0-36F1-3DD4-15EF7C11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D0A9E-09B0-4F93-A7B8-F96510294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82DC27-777F-F212-A20E-9D8EDEDE0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8B6C8B-BD8E-8BA8-56FA-CD6FFD13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7463C9-29CC-C73C-2382-B511BDCB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CD7FB-3AFE-F632-31C2-BF4720BE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344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B546B-D54E-2824-83DD-DE13154B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C9038-B127-E4D7-0069-1B29BBD5F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1A48B8-2873-9A69-B77B-00D166614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369E4B-CE69-EA8B-0929-0EC156CB0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F137D0-172F-C3EF-77F0-0D3D48510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EB2EED-B785-D3A2-0B74-80F82BCA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836611-C2FA-77EB-AC10-EA9FBE01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08B332-D25C-7570-3AE0-09DA8DC3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424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B5903-4610-2459-958C-727ABE50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92DF87-B535-34F4-0007-DCFB93D4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0CBF80-75AF-4980-E5BC-706C78AB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9F951-D670-F0E6-60D6-C191E198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030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6311DC-5EE8-B5B2-8521-993CBFA0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BE5BCE-9EBC-EAA1-4CEA-E96B19DA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4BBD9-5C6B-322D-FCF7-62BCB977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38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BFD21-B8B3-1618-6C53-31E92FC6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82F59B-A1A4-781C-8C7B-47E29036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64D361-9A79-00F7-7424-C2D14452E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5660C5-08FF-C673-5CDA-11CCF4417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374EF0-C55A-DA14-3FAC-1D3334FE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1DF97B-DD46-56CB-5E04-0A5E4127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287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9A726-8779-7F0D-ECC7-9E98ABCD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4B91A8-E694-B26A-ED2F-10399FCE0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D539AA-B2C3-A1FB-D674-86B26DBAE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DC7871-4375-DCDE-5726-575E4E27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2573A-DF5F-A2DC-96E8-760AF885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AD5459-2807-D1C1-9FD5-CA596DEF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310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6467D-3A96-68AF-6252-8091AD4E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299B61-3468-FFBE-2CDA-CEF9501AA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F325BF-5F41-F0C1-49C8-9FEB65FA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BEBDC-ADFE-3AE7-3A33-6616ACC4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F2858-2DA4-BBF0-E2F2-7D256EF1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270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F683E0-8E51-4197-D2F0-1B703FDAF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990C2C-FC62-8BB7-37EC-FD04D8C17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ABDFC-8E04-52E8-69C6-9918DCE2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FF96B-E330-5BD2-C679-EA69A61F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77C86-06A7-269D-8639-32EB16AA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685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33EA5D-4795-8EB0-F6C9-51657981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F51038-7101-A356-CC19-DB1C2DF9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823E1-5776-BECB-AC63-089E636E0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9FE633-9ACE-5304-14C6-EE5BEBB21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4A8F4-80E9-B1D5-305B-631649C1F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464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7">
            <a:extLst>
              <a:ext uri="{FF2B5EF4-FFF2-40B4-BE49-F238E27FC236}">
                <a16:creationId xmlns:a16="http://schemas.microsoft.com/office/drawing/2014/main" id="{F2AD73FA-F9FD-F7DA-15E1-77D98A4BC9F7}"/>
              </a:ext>
            </a:extLst>
          </p:cNvPr>
          <p:cNvSpPr/>
          <p:nvPr/>
        </p:nvSpPr>
        <p:spPr>
          <a:xfrm>
            <a:off x="3076535" y="3301153"/>
            <a:ext cx="2440800" cy="1564469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8" tIns="91440"/>
          <a:lstStyle/>
          <a:p>
            <a:endParaRPr lang="ko-KR" altLang="en-US" sz="1400" dirty="0">
              <a:solidFill>
                <a:schemeClr val="bg2">
                  <a:lumMod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0353ED-57D4-8A2A-9FFE-37248B7BAB80}"/>
              </a:ext>
            </a:extLst>
          </p:cNvPr>
          <p:cNvSpPr txBox="1"/>
          <p:nvPr/>
        </p:nvSpPr>
        <p:spPr>
          <a:xfrm>
            <a:off x="3601802" y="3024207"/>
            <a:ext cx="1388137" cy="4524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300" b="1" dirty="0">
                <a:solidFill>
                  <a:schemeClr val="bg2">
                    <a:lumMod val="10000"/>
                  </a:schemeClr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Spot Instance </a:t>
            </a:r>
          </a:p>
          <a:p>
            <a:pPr algn="ctr">
              <a:lnSpc>
                <a:spcPct val="90000"/>
              </a:lnSpc>
            </a:pPr>
            <a:r>
              <a:rPr lang="en-US" altLang="ko-KR" sz="1300" b="1" dirty="0">
                <a:solidFill>
                  <a:schemeClr val="bg2">
                    <a:lumMod val="10000"/>
                  </a:schemeClr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Data Ingestion</a:t>
            </a:r>
            <a:endParaRPr lang="ko-KR" altLang="en-US" sz="1300" b="1" dirty="0">
              <a:solidFill>
                <a:schemeClr val="bg2">
                  <a:lumMod val="10000"/>
                </a:schemeClr>
              </a:solidFill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54" name="Rectangle 57">
            <a:extLst>
              <a:ext uri="{FF2B5EF4-FFF2-40B4-BE49-F238E27FC236}">
                <a16:creationId xmlns:a16="http://schemas.microsoft.com/office/drawing/2014/main" id="{E691ACD0-EC7D-330A-1B92-9C73B640790D}"/>
              </a:ext>
            </a:extLst>
          </p:cNvPr>
          <p:cNvSpPr/>
          <p:nvPr/>
        </p:nvSpPr>
        <p:spPr>
          <a:xfrm>
            <a:off x="3252509" y="1958065"/>
            <a:ext cx="2086724" cy="230601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Pod </a:t>
            </a:r>
            <a:r>
              <a:rPr lang="en-US" altLang="ko-KR" sz="12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vCPU</a:t>
            </a:r>
            <a:endParaRPr lang="ko-KR" altLang="en-US" sz="12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55" name="Rectangle 57">
            <a:extLst>
              <a:ext uri="{FF2B5EF4-FFF2-40B4-BE49-F238E27FC236}">
                <a16:creationId xmlns:a16="http://schemas.microsoft.com/office/drawing/2014/main" id="{DDA4756E-8C1E-74A8-D46C-63EDC33A9E94}"/>
              </a:ext>
            </a:extLst>
          </p:cNvPr>
          <p:cNvSpPr/>
          <p:nvPr/>
        </p:nvSpPr>
        <p:spPr>
          <a:xfrm>
            <a:off x="3252509" y="2268136"/>
            <a:ext cx="2086724" cy="230601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Pod </a:t>
            </a:r>
            <a:r>
              <a:rPr lang="en-US" altLang="ko-KR" sz="12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Memory</a:t>
            </a:r>
            <a:endParaRPr lang="ko-KR" altLang="en-US" sz="12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310E89F8-78F2-5607-F831-33903A6875F5}"/>
              </a:ext>
            </a:extLst>
          </p:cNvPr>
          <p:cNvSpPr/>
          <p:nvPr/>
        </p:nvSpPr>
        <p:spPr>
          <a:xfrm>
            <a:off x="5745225" y="1390608"/>
            <a:ext cx="3029775" cy="3475014"/>
          </a:xfrm>
          <a:prstGeom prst="rect">
            <a:avLst/>
          </a:prstGeom>
          <a:noFill/>
          <a:ln w="19050">
            <a:solidFill>
              <a:srgbClr val="326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anchor="ctr" anchorCtr="0"/>
          <a:lstStyle/>
          <a:p>
            <a:endParaRPr lang="en-US" altLang="ko-KR" sz="1300" dirty="0">
              <a:solidFill>
                <a:srgbClr val="326CE5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F52025-29AA-3C1C-61F1-686FFFE5C129}"/>
              </a:ext>
            </a:extLst>
          </p:cNvPr>
          <p:cNvSpPr/>
          <p:nvPr/>
        </p:nvSpPr>
        <p:spPr>
          <a:xfrm>
            <a:off x="6057177" y="2513746"/>
            <a:ext cx="2405870" cy="678512"/>
          </a:xfrm>
          <a:prstGeom prst="roundRect">
            <a:avLst>
              <a:gd name="adj" fmla="val 10899"/>
            </a:avLst>
          </a:prstGeom>
          <a:noFill/>
          <a:ln w="15875">
            <a:solidFill>
              <a:srgbClr val="F97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72000" rIns="72000" bIns="72000" anchor="ctr" anchorCtr="0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Integer Linear Programming (ILP)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 </a:t>
            </a:r>
            <a:r>
              <a:rPr lang="en-US" altLang="ko-KR" sz="13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</a:rPr>
              <a:t>Node Selection Solver</a:t>
            </a:r>
            <a:endParaRPr lang="ko-KR" altLang="en-US" sz="13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F09B7491-6254-A998-DFFA-6AC46F41FEE5}"/>
              </a:ext>
            </a:extLst>
          </p:cNvPr>
          <p:cNvSpPr/>
          <p:nvPr/>
        </p:nvSpPr>
        <p:spPr>
          <a:xfrm>
            <a:off x="6059534" y="3311088"/>
            <a:ext cx="2401157" cy="678512"/>
          </a:xfrm>
          <a:prstGeom prst="roundRect">
            <a:avLst>
              <a:gd name="adj" fmla="val 8277"/>
            </a:avLst>
          </a:prstGeom>
          <a:noFill/>
          <a:ln w="15875">
            <a:solidFill>
              <a:srgbClr val="F97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72000" rIns="72000" bIns="72000" anchor="ctr" anchorCtr="0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Golden Section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 Search (GSS)</a:t>
            </a:r>
          </a:p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</a:rPr>
              <a:t>Cost &amp; Perf Optimizer</a:t>
            </a:r>
            <a:endParaRPr lang="ko-KR" altLang="en-US" sz="13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CB2A1E5D-48C5-4EF4-BE86-5C688F691905}"/>
              </a:ext>
            </a:extLst>
          </p:cNvPr>
          <p:cNvSpPr/>
          <p:nvPr/>
        </p:nvSpPr>
        <p:spPr>
          <a:xfrm>
            <a:off x="3252509" y="1647994"/>
            <a:ext cx="2086724" cy="230601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Number of Pods</a:t>
            </a:r>
            <a:endParaRPr lang="ko-KR" altLang="en-US" sz="1200" b="1" dirty="0">
              <a:solidFill>
                <a:schemeClr val="tx1"/>
              </a:solidFill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E4DE02-018E-1468-6965-BCF293D8659D}"/>
              </a:ext>
            </a:extLst>
          </p:cNvPr>
          <p:cNvSpPr txBox="1"/>
          <p:nvPr/>
        </p:nvSpPr>
        <p:spPr>
          <a:xfrm rot="16200000">
            <a:off x="5829031" y="3535069"/>
            <a:ext cx="678511" cy="227100"/>
          </a:xfrm>
          <a:prstGeom prst="round2SameRect">
            <a:avLst>
              <a:gd name="adj1" fmla="val 34333"/>
              <a:gd name="adj2" fmla="val 0"/>
            </a:avLst>
          </a:prstGeom>
          <a:solidFill>
            <a:srgbClr val="F97600"/>
          </a:solidFill>
        </p:spPr>
        <p:txBody>
          <a:bodyPr vert="eaVert" wrap="square" lIns="72000" tIns="0" rIns="72000" bIns="36000" anchor="ctr" anchorCtr="0"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3</a:t>
            </a:r>
            <a:endParaRPr lang="ko-KR" altLang="en-US" sz="1300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F775A484-D2D0-9882-BD48-B941486AE464}"/>
              </a:ext>
            </a:extLst>
          </p:cNvPr>
          <p:cNvSpPr/>
          <p:nvPr/>
        </p:nvSpPr>
        <p:spPr>
          <a:xfrm>
            <a:off x="3252509" y="2578207"/>
            <a:ext cx="2086724" cy="230601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Workload Characteristic</a:t>
            </a:r>
            <a:endParaRPr lang="ko-KR" altLang="en-US" sz="12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64" name="Rectangle 57">
            <a:extLst>
              <a:ext uri="{FF2B5EF4-FFF2-40B4-BE49-F238E27FC236}">
                <a16:creationId xmlns:a16="http://schemas.microsoft.com/office/drawing/2014/main" id="{6648AA91-5ADA-CB83-65B9-0DF842712C77}"/>
              </a:ext>
            </a:extLst>
          </p:cNvPr>
          <p:cNvSpPr/>
          <p:nvPr/>
        </p:nvSpPr>
        <p:spPr>
          <a:xfrm>
            <a:off x="6054738" y="2023089"/>
            <a:ext cx="2410749" cy="373549"/>
          </a:xfrm>
          <a:prstGeom prst="roundRect">
            <a:avLst>
              <a:gd name="adj" fmla="val 9047"/>
            </a:avLst>
          </a:prstGeom>
          <a:noFill/>
          <a:ln w="15875">
            <a:solidFill>
              <a:srgbClr val="F97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72000" rIns="72000" bIns="72000" anchor="ctr" anchorCtr="0"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Metric</a:t>
            </a:r>
            <a:r>
              <a:rPr lang="ko-KR" altLang="en-US" sz="13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 </a:t>
            </a:r>
            <a:r>
              <a:rPr lang="en-US" altLang="ko-KR" sz="13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Preprocessor</a:t>
            </a:r>
            <a:endParaRPr lang="ko-KR" altLang="en-US" sz="1300" b="1" dirty="0">
              <a:solidFill>
                <a:schemeClr val="tx1"/>
              </a:solidFill>
              <a:latin typeface="SUIT SemiBold" pitchFamily="2" charset="-127"/>
              <a:ea typeface="SUIT SemiBold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D75452F-96A8-ED0B-5A81-DCBBB0AC806B}"/>
              </a:ext>
            </a:extLst>
          </p:cNvPr>
          <p:cNvGrpSpPr/>
          <p:nvPr/>
        </p:nvGrpSpPr>
        <p:grpSpPr>
          <a:xfrm>
            <a:off x="3252509" y="3530574"/>
            <a:ext cx="2088851" cy="1217536"/>
            <a:chOff x="5369946" y="696058"/>
            <a:chExt cx="2088851" cy="1217536"/>
          </a:xfrm>
        </p:grpSpPr>
        <p:sp>
          <p:nvSpPr>
            <p:cNvPr id="67" name="Rectangle 57">
              <a:extLst>
                <a:ext uri="{FF2B5EF4-FFF2-40B4-BE49-F238E27FC236}">
                  <a16:creationId xmlns:a16="http://schemas.microsoft.com/office/drawing/2014/main" id="{7D6EC512-852A-9A37-3C52-5AEAB9D081D4}"/>
                </a:ext>
              </a:extLst>
            </p:cNvPr>
            <p:cNvSpPr/>
            <p:nvPr/>
          </p:nvSpPr>
          <p:spPr>
            <a:xfrm>
              <a:off x="5372074" y="701150"/>
              <a:ext cx="2086723" cy="252000"/>
            </a:xfrm>
            <a:prstGeom prst="roundRect">
              <a:avLst>
                <a:gd name="adj" fmla="val 50000"/>
              </a:avLst>
            </a:prstGeom>
            <a:noFill/>
            <a:ln w="158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72000" rIns="72000" bIns="72000" anchor="ctr" anchorCtr="0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SUIT" pitchFamily="2" charset="-127"/>
                  <a:ea typeface="SUIT" pitchFamily="2" charset="-127"/>
                  <a:cs typeface="Arial" panose="020B0604020202020204" pitchFamily="34" charset="0"/>
                </a:rPr>
                <a:t>Hardware Spec</a:t>
              </a:r>
              <a:endParaRPr lang="ko-KR" altLang="en-US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68" name="Rectangle 57">
              <a:extLst>
                <a:ext uri="{FF2B5EF4-FFF2-40B4-BE49-F238E27FC236}">
                  <a16:creationId xmlns:a16="http://schemas.microsoft.com/office/drawing/2014/main" id="{3C66E984-AA66-664A-B1C7-97BF7E47D98F}"/>
                </a:ext>
              </a:extLst>
            </p:cNvPr>
            <p:cNvSpPr/>
            <p:nvPr/>
          </p:nvSpPr>
          <p:spPr>
            <a:xfrm>
              <a:off x="5372074" y="1028409"/>
              <a:ext cx="2086723" cy="252000"/>
            </a:xfrm>
            <a:prstGeom prst="roundRect">
              <a:avLst>
                <a:gd name="adj" fmla="val 50000"/>
              </a:avLst>
            </a:prstGeom>
            <a:noFill/>
            <a:ln w="158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72000" rIns="72000" bIns="72000" anchor="ctr" anchorCtr="0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SUIT" pitchFamily="2" charset="-127"/>
                  <a:ea typeface="SUIT" pitchFamily="2" charset="-127"/>
                  <a:cs typeface="Arial" panose="020B0604020202020204" pitchFamily="34" charset="0"/>
                </a:rPr>
                <a:t>CPU Benchmark</a:t>
              </a:r>
              <a:endParaRPr lang="ko-KR" altLang="en-US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69" name="Rectangle 57">
              <a:extLst>
                <a:ext uri="{FF2B5EF4-FFF2-40B4-BE49-F238E27FC236}">
                  <a16:creationId xmlns:a16="http://schemas.microsoft.com/office/drawing/2014/main" id="{8F2D1E03-8992-723E-91B1-8A84D4FC4ADF}"/>
                </a:ext>
              </a:extLst>
            </p:cNvPr>
            <p:cNvSpPr/>
            <p:nvPr/>
          </p:nvSpPr>
          <p:spPr>
            <a:xfrm>
              <a:off x="5372074" y="1345823"/>
              <a:ext cx="2086723" cy="252000"/>
            </a:xfrm>
            <a:prstGeom prst="roundRect">
              <a:avLst>
                <a:gd name="adj" fmla="val 50000"/>
              </a:avLst>
            </a:prstGeom>
            <a:noFill/>
            <a:ln w="158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72000" rIns="72000" bIns="72000" anchor="ctr" anchorCtr="0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SUIT" pitchFamily="2" charset="-127"/>
                  <a:ea typeface="SUIT" pitchFamily="2" charset="-127"/>
                  <a:cs typeface="Arial" panose="020B0604020202020204" pitchFamily="34" charset="0"/>
                </a:rPr>
                <a:t>Spot Price</a:t>
              </a:r>
              <a:endParaRPr lang="ko-KR" altLang="en-US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70" name="Rectangle 57">
              <a:extLst>
                <a:ext uri="{FF2B5EF4-FFF2-40B4-BE49-F238E27FC236}">
                  <a16:creationId xmlns:a16="http://schemas.microsoft.com/office/drawing/2014/main" id="{56F2A8C2-A142-3D9E-FE4C-748EEA2E035F}"/>
                </a:ext>
              </a:extLst>
            </p:cNvPr>
            <p:cNvSpPr/>
            <p:nvPr/>
          </p:nvSpPr>
          <p:spPr>
            <a:xfrm>
              <a:off x="5372074" y="1654052"/>
              <a:ext cx="2086723" cy="252000"/>
            </a:xfrm>
            <a:prstGeom prst="roundRect">
              <a:avLst>
                <a:gd name="adj" fmla="val 50000"/>
              </a:avLst>
            </a:prstGeom>
            <a:noFill/>
            <a:ln w="158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72000" rIns="72000" bIns="72000" anchor="ctr" anchorCtr="0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SUIT" pitchFamily="2" charset="-127"/>
                  <a:ea typeface="SUIT" pitchFamily="2" charset="-127"/>
                </a:rPr>
                <a:t>Multi-Node Availability</a:t>
              </a:r>
              <a:endParaRPr lang="ko-KR" altLang="en-US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B9798061-4F87-57E7-CBAB-A55F8FED7A69}"/>
                </a:ext>
              </a:extLst>
            </p:cNvPr>
            <p:cNvGrpSpPr/>
            <p:nvPr/>
          </p:nvGrpSpPr>
          <p:grpSpPr>
            <a:xfrm>
              <a:off x="5369946" y="1340732"/>
              <a:ext cx="262183" cy="262183"/>
              <a:chOff x="2717664" y="4414823"/>
              <a:chExt cx="262183" cy="262183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EBA36498-B894-C494-3F7D-3905C507FABB}"/>
                  </a:ext>
                </a:extLst>
              </p:cNvPr>
              <p:cNvSpPr/>
              <p:nvPr/>
            </p:nvSpPr>
            <p:spPr>
              <a:xfrm>
                <a:off x="2717664" y="4414823"/>
                <a:ext cx="262183" cy="26218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SUIT" pitchFamily="2" charset="-127"/>
                  <a:ea typeface="SUIT" pitchFamily="2" charset="-127"/>
                </a:endParaRPr>
              </a:p>
            </p:txBody>
          </p:sp>
          <p:pic>
            <p:nvPicPr>
              <p:cNvPr id="82" name="그래픽 81">
                <a:extLst>
                  <a:ext uri="{FF2B5EF4-FFF2-40B4-BE49-F238E27FC236}">
                    <a16:creationId xmlns:a16="http://schemas.microsoft.com/office/drawing/2014/main" id="{55476838-0C6E-078D-0BD2-3FDE4F896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758757" y="445282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45A1BA02-0994-48BA-DA5D-5BAECC51E33B}"/>
                </a:ext>
              </a:extLst>
            </p:cNvPr>
            <p:cNvGrpSpPr/>
            <p:nvPr/>
          </p:nvGrpSpPr>
          <p:grpSpPr>
            <a:xfrm>
              <a:off x="5369946" y="1651411"/>
              <a:ext cx="262183" cy="262183"/>
              <a:chOff x="2811193" y="5573108"/>
              <a:chExt cx="262183" cy="262183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1B4F710A-6B98-3A53-1EF2-90E097CD8455}"/>
                  </a:ext>
                </a:extLst>
              </p:cNvPr>
              <p:cNvSpPr/>
              <p:nvPr/>
            </p:nvSpPr>
            <p:spPr>
              <a:xfrm>
                <a:off x="2811193" y="5573108"/>
                <a:ext cx="262183" cy="26218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SUIT" pitchFamily="2" charset="-127"/>
                  <a:ea typeface="SUIT" pitchFamily="2" charset="-127"/>
                </a:endParaRPr>
              </a:p>
            </p:txBody>
          </p:sp>
          <p:pic>
            <p:nvPicPr>
              <p:cNvPr id="80" name="그래픽 79">
                <a:extLst>
                  <a:ext uri="{FF2B5EF4-FFF2-40B4-BE49-F238E27FC236}">
                    <a16:creationId xmlns:a16="http://schemas.microsoft.com/office/drawing/2014/main" id="{986CBF6E-6642-9A8D-0280-A26110224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53381" y="5608912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E99356F6-A528-C209-1A77-C5F318A0601A}"/>
                </a:ext>
              </a:extLst>
            </p:cNvPr>
            <p:cNvGrpSpPr/>
            <p:nvPr/>
          </p:nvGrpSpPr>
          <p:grpSpPr>
            <a:xfrm>
              <a:off x="5369946" y="1023317"/>
              <a:ext cx="262183" cy="262183"/>
              <a:chOff x="5139553" y="5363020"/>
              <a:chExt cx="262183" cy="262183"/>
            </a:xfrm>
          </p:grpSpPr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B4ED7EC4-EFB9-94FB-F78E-60B3AC6BB791}"/>
                  </a:ext>
                </a:extLst>
              </p:cNvPr>
              <p:cNvSpPr/>
              <p:nvPr/>
            </p:nvSpPr>
            <p:spPr>
              <a:xfrm>
                <a:off x="5139553" y="5363020"/>
                <a:ext cx="262183" cy="26218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latin typeface="SUIT" pitchFamily="2" charset="-127"/>
                  <a:ea typeface="SUIT" pitchFamily="2" charset="-127"/>
                </a:endParaRPr>
              </a:p>
            </p:txBody>
          </p:sp>
          <p:pic>
            <p:nvPicPr>
              <p:cNvPr id="78" name="그래픽 77">
                <a:extLst>
                  <a:ext uri="{FF2B5EF4-FFF2-40B4-BE49-F238E27FC236}">
                    <a16:creationId xmlns:a16="http://schemas.microsoft.com/office/drawing/2014/main" id="{1E52CC2A-98C2-15E6-511D-099862212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80644" y="5404111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B98E10A5-2C90-4B5A-7C81-7C8F961F6167}"/>
                </a:ext>
              </a:extLst>
            </p:cNvPr>
            <p:cNvGrpSpPr/>
            <p:nvPr/>
          </p:nvGrpSpPr>
          <p:grpSpPr>
            <a:xfrm>
              <a:off x="5369946" y="696058"/>
              <a:ext cx="262183" cy="262183"/>
              <a:chOff x="5139553" y="4683485"/>
              <a:chExt cx="262183" cy="262183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9FA91B3-5AB6-7FAC-DED4-7F59B79256A0}"/>
                  </a:ext>
                </a:extLst>
              </p:cNvPr>
              <p:cNvSpPr/>
              <p:nvPr/>
            </p:nvSpPr>
            <p:spPr>
              <a:xfrm>
                <a:off x="5139553" y="4683485"/>
                <a:ext cx="262183" cy="26218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SUIT" pitchFamily="2" charset="-127"/>
                  <a:ea typeface="SUIT" pitchFamily="2" charset="-127"/>
                </a:endParaRPr>
              </a:p>
            </p:txBody>
          </p:sp>
          <p:pic>
            <p:nvPicPr>
              <p:cNvPr id="76" name="그래픽 75">
                <a:extLst>
                  <a:ext uri="{FF2B5EF4-FFF2-40B4-BE49-F238E27FC236}">
                    <a16:creationId xmlns:a16="http://schemas.microsoft.com/office/drawing/2014/main" id="{EEE2C493-BD9C-CEF5-1DE2-FEB0A9AF7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180644" y="4724576"/>
                <a:ext cx="180000" cy="180000"/>
              </a:xfrm>
              <a:prstGeom prst="rect">
                <a:avLst/>
              </a:prstGeom>
            </p:spPr>
          </p:pic>
        </p:grpSp>
      </p:grpSp>
      <p:sp>
        <p:nvSpPr>
          <p:cNvPr id="83" name="Rectangle 57">
            <a:extLst>
              <a:ext uri="{FF2B5EF4-FFF2-40B4-BE49-F238E27FC236}">
                <a16:creationId xmlns:a16="http://schemas.microsoft.com/office/drawing/2014/main" id="{C7DD3595-3200-5880-6DD4-C824CC823D35}"/>
              </a:ext>
            </a:extLst>
          </p:cNvPr>
          <p:cNvSpPr/>
          <p:nvPr/>
        </p:nvSpPr>
        <p:spPr>
          <a:xfrm>
            <a:off x="3077159" y="1390608"/>
            <a:ext cx="2437424" cy="1564469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8" tIns="91440"/>
          <a:lstStyle/>
          <a:p>
            <a:endParaRPr lang="ko-KR" altLang="en-US" sz="1400" dirty="0">
              <a:solidFill>
                <a:schemeClr val="bg2">
                  <a:lumMod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91670E-3BEF-7AA5-DEA3-C6E72D7CD7A5}"/>
              </a:ext>
            </a:extLst>
          </p:cNvPr>
          <p:cNvSpPr txBox="1"/>
          <p:nvPr/>
        </p:nvSpPr>
        <p:spPr>
          <a:xfrm>
            <a:off x="4083944" y="1190581"/>
            <a:ext cx="754820" cy="394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2000" tIns="36000" rIns="0" bIns="3600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300" b="1" dirty="0">
                <a:solidFill>
                  <a:schemeClr val="accent4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User</a:t>
            </a:r>
          </a:p>
          <a:p>
            <a:pPr>
              <a:lnSpc>
                <a:spcPct val="80000"/>
              </a:lnSpc>
            </a:pPr>
            <a:r>
              <a:rPr lang="en-US" altLang="ko-KR" sz="1300" b="1" dirty="0">
                <a:solidFill>
                  <a:schemeClr val="accent4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Request</a:t>
            </a:r>
            <a:endParaRPr lang="ko-KR" altLang="en-US" sz="1300" b="1" dirty="0">
              <a:solidFill>
                <a:schemeClr val="accent4"/>
              </a:solidFill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316DEA2B-B6DC-2ECE-0539-A6A50D99991A}"/>
              </a:ext>
            </a:extLst>
          </p:cNvPr>
          <p:cNvSpPr/>
          <p:nvPr/>
        </p:nvSpPr>
        <p:spPr>
          <a:xfrm>
            <a:off x="3732373" y="1198838"/>
            <a:ext cx="351550" cy="3515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86" name="그래픽 85">
            <a:extLst>
              <a:ext uri="{FF2B5EF4-FFF2-40B4-BE49-F238E27FC236}">
                <a16:creationId xmlns:a16="http://schemas.microsoft.com/office/drawing/2014/main" id="{D5F8872A-BCE4-50B4-0F01-A71417D65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5652" y="1213700"/>
            <a:ext cx="303661" cy="303661"/>
          </a:xfrm>
          <a:prstGeom prst="rect">
            <a:avLst/>
          </a:prstGeom>
        </p:spPr>
      </p:pic>
      <p:cxnSp>
        <p:nvCxnSpPr>
          <p:cNvPr id="87" name="직선 연결선[R] 86">
            <a:extLst>
              <a:ext uri="{FF2B5EF4-FFF2-40B4-BE49-F238E27FC236}">
                <a16:creationId xmlns:a16="http://schemas.microsoft.com/office/drawing/2014/main" id="{BDB8A2BF-DCD7-F41E-A49B-F2A5A66ACBA9}"/>
              </a:ext>
            </a:extLst>
          </p:cNvPr>
          <p:cNvCxnSpPr>
            <a:cxnSpLocks/>
          </p:cNvCxnSpPr>
          <p:nvPr/>
        </p:nvCxnSpPr>
        <p:spPr>
          <a:xfrm flipH="1">
            <a:off x="7260112" y="2396638"/>
            <a:ext cx="1" cy="1171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[R] 87">
            <a:extLst>
              <a:ext uri="{FF2B5EF4-FFF2-40B4-BE49-F238E27FC236}">
                <a16:creationId xmlns:a16="http://schemas.microsoft.com/office/drawing/2014/main" id="{F186FD38-BF45-940C-100B-941C599B5C48}"/>
              </a:ext>
            </a:extLst>
          </p:cNvPr>
          <p:cNvCxnSpPr>
            <a:cxnSpLocks/>
          </p:cNvCxnSpPr>
          <p:nvPr/>
        </p:nvCxnSpPr>
        <p:spPr>
          <a:xfrm flipH="1">
            <a:off x="7260112" y="3192258"/>
            <a:ext cx="1" cy="1171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57">
            <a:extLst>
              <a:ext uri="{FF2B5EF4-FFF2-40B4-BE49-F238E27FC236}">
                <a16:creationId xmlns:a16="http://schemas.microsoft.com/office/drawing/2014/main" id="{2D11BC85-23C1-9E3A-D861-F5A9460214E2}"/>
              </a:ext>
            </a:extLst>
          </p:cNvPr>
          <p:cNvSpPr/>
          <p:nvPr/>
        </p:nvSpPr>
        <p:spPr>
          <a:xfrm>
            <a:off x="5892057" y="4230402"/>
            <a:ext cx="2736109" cy="502753"/>
          </a:xfrm>
          <a:prstGeom prst="roundRect">
            <a:avLst>
              <a:gd name="adj" fmla="val 15639"/>
            </a:avLst>
          </a:prstGeom>
          <a:noFill/>
          <a:ln w="19050">
            <a:solidFill>
              <a:srgbClr val="F97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 anchorCtr="0"/>
          <a:lstStyle/>
          <a:p>
            <a:pPr algn="ctr"/>
            <a:r>
              <a:rPr lang="en-US" altLang="ko-KR" sz="1400" b="1" dirty="0">
                <a:solidFill>
                  <a:srgbClr val="F97600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Optimal </a:t>
            </a:r>
          </a:p>
          <a:p>
            <a:pPr algn="ctr"/>
            <a:r>
              <a:rPr lang="en-US" altLang="ko-KR" sz="1400" b="1" dirty="0">
                <a:solidFill>
                  <a:srgbClr val="F97600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Spot Instance </a:t>
            </a:r>
            <a:r>
              <a:rPr lang="en-US" altLang="ko-KR" sz="1400" b="1" dirty="0" err="1">
                <a:solidFill>
                  <a:srgbClr val="F97600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Nodepool</a:t>
            </a:r>
            <a:endParaRPr lang="en-US" altLang="ko-KR" sz="1400" b="1" dirty="0">
              <a:solidFill>
                <a:srgbClr val="F97600"/>
              </a:solidFill>
              <a:latin typeface="SUIT SemiBold" pitchFamily="2" charset="-127"/>
              <a:ea typeface="SUIT SemiBold" pitchFamily="2" charset="-127"/>
              <a:cs typeface="Arial" panose="020B0604020202020204" pitchFamily="34" charset="0"/>
            </a:endParaRPr>
          </a:p>
        </p:txBody>
      </p:sp>
      <p:sp>
        <p:nvSpPr>
          <p:cNvPr id="93" name="Rectangle 57">
            <a:extLst>
              <a:ext uri="{FF2B5EF4-FFF2-40B4-BE49-F238E27FC236}">
                <a16:creationId xmlns:a16="http://schemas.microsoft.com/office/drawing/2014/main" id="{B410C4F5-EF15-F947-3239-CADCA9779653}"/>
              </a:ext>
            </a:extLst>
          </p:cNvPr>
          <p:cNvSpPr/>
          <p:nvPr/>
        </p:nvSpPr>
        <p:spPr>
          <a:xfrm>
            <a:off x="5892057" y="1702181"/>
            <a:ext cx="2736110" cy="2388993"/>
          </a:xfrm>
          <a:prstGeom prst="roundRect">
            <a:avLst>
              <a:gd name="adj" fmla="val 3043"/>
            </a:avLst>
          </a:prstGeom>
          <a:noFill/>
          <a:ln w="22225" cmpd="sng">
            <a:solidFill>
              <a:srgbClr val="F9760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8" tIns="91440"/>
          <a:lstStyle/>
          <a:p>
            <a:endParaRPr lang="ko-KR" altLang="en-US" sz="1400" dirty="0">
              <a:solidFill>
                <a:srgbClr val="F97600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B32DC7F-6CF0-3958-2802-D1BF5FD3C32A}"/>
              </a:ext>
            </a:extLst>
          </p:cNvPr>
          <p:cNvSpPr txBox="1"/>
          <p:nvPr/>
        </p:nvSpPr>
        <p:spPr>
          <a:xfrm>
            <a:off x="6651683" y="1566294"/>
            <a:ext cx="1216855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F97600"/>
                </a:solidFill>
                <a:latin typeface="SUIT Medium" pitchFamily="2" charset="-127"/>
                <a:ea typeface="SUIT Medium" pitchFamily="2" charset="-127"/>
              </a:rPr>
              <a:t>KubePACS</a:t>
            </a:r>
          </a:p>
        </p:txBody>
      </p:sp>
      <p:cxnSp>
        <p:nvCxnSpPr>
          <p:cNvPr id="95" name="Elbow Connector 22" descr="Elbow horizontal arrow pointing right (1).">
            <a:extLst>
              <a:ext uri="{FF2B5EF4-FFF2-40B4-BE49-F238E27FC236}">
                <a16:creationId xmlns:a16="http://schemas.microsoft.com/office/drawing/2014/main" id="{C351DCBD-CD57-C41C-4E75-EFD598EADDC7}"/>
              </a:ext>
            </a:extLst>
          </p:cNvPr>
          <p:cNvCxnSpPr>
            <a:cxnSpLocks/>
            <a:stCxn id="83" idx="3"/>
          </p:cNvCxnSpPr>
          <p:nvPr/>
        </p:nvCxnSpPr>
        <p:spPr>
          <a:xfrm flipV="1">
            <a:off x="5514583" y="2023089"/>
            <a:ext cx="1745530" cy="149754"/>
          </a:xfrm>
          <a:prstGeom prst="bentConnector4">
            <a:avLst>
              <a:gd name="adj1" fmla="val 6174"/>
              <a:gd name="adj2" fmla="val 180700"/>
            </a:avLst>
          </a:prstGeom>
          <a:ln w="2222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98256F3-7B72-489E-C2AF-6E159009AD98}"/>
              </a:ext>
            </a:extLst>
          </p:cNvPr>
          <p:cNvSpPr/>
          <p:nvPr/>
        </p:nvSpPr>
        <p:spPr>
          <a:xfrm>
            <a:off x="5683812" y="1845444"/>
            <a:ext cx="253718" cy="132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7" name="Elbow Connector 22" descr="Elbow horizontal arrow pointing right (1).">
            <a:extLst>
              <a:ext uri="{FF2B5EF4-FFF2-40B4-BE49-F238E27FC236}">
                <a16:creationId xmlns:a16="http://schemas.microsoft.com/office/drawing/2014/main" id="{A9AFF022-AB08-8658-4B15-0FDDAC688D1C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5517335" y="2023089"/>
            <a:ext cx="1742778" cy="2060299"/>
          </a:xfrm>
          <a:prstGeom prst="bentConnector4">
            <a:avLst>
              <a:gd name="adj1" fmla="val 6106"/>
              <a:gd name="adj2" fmla="val 105907"/>
            </a:avLst>
          </a:prstGeom>
          <a:ln w="2222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905E003-11DA-8DF3-AE10-7889595A2B22}"/>
              </a:ext>
            </a:extLst>
          </p:cNvPr>
          <p:cNvGrpSpPr/>
          <p:nvPr/>
        </p:nvGrpSpPr>
        <p:grpSpPr>
          <a:xfrm>
            <a:off x="6132585" y="1224878"/>
            <a:ext cx="2304149" cy="331292"/>
            <a:chOff x="6966444" y="188642"/>
            <a:chExt cx="2304149" cy="331292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F367BEB-18AC-8D34-73B3-BFE4AA6CF12B}"/>
                </a:ext>
              </a:extLst>
            </p:cNvPr>
            <p:cNvSpPr txBox="1"/>
            <p:nvPr/>
          </p:nvSpPr>
          <p:spPr>
            <a:xfrm>
              <a:off x="7273596" y="248997"/>
              <a:ext cx="1996997" cy="2450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srgbClr val="326CE5"/>
                  </a:solidFill>
                  <a:latin typeface="SUIT Medium" pitchFamily="2" charset="-127"/>
                  <a:ea typeface="SUIT Medium" pitchFamily="2" charset="-127"/>
                  <a:cs typeface="Arial" panose="020B0604020202020204" pitchFamily="34" charset="0"/>
                </a:rPr>
                <a:t>Kubernetes Cluster</a:t>
              </a:r>
            </a:p>
          </p:txBody>
        </p:sp>
        <p:sp>
          <p:nvSpPr>
            <p:cNvPr id="106" name="모서리가 둥근 직사각형 105">
              <a:extLst>
                <a:ext uri="{FF2B5EF4-FFF2-40B4-BE49-F238E27FC236}">
                  <a16:creationId xmlns:a16="http://schemas.microsoft.com/office/drawing/2014/main" id="{9594A125-0236-459E-C9AE-B8CC237CBE3E}"/>
                </a:ext>
              </a:extLst>
            </p:cNvPr>
            <p:cNvSpPr/>
            <p:nvPr/>
          </p:nvSpPr>
          <p:spPr>
            <a:xfrm>
              <a:off x="6966444" y="188642"/>
              <a:ext cx="331292" cy="331292"/>
            </a:xfrm>
            <a:prstGeom prst="roundRect">
              <a:avLst/>
            </a:prstGeom>
            <a:solidFill>
              <a:srgbClr val="326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57" name="그래픽 56">
              <a:extLst>
                <a:ext uri="{FF2B5EF4-FFF2-40B4-BE49-F238E27FC236}">
                  <a16:creationId xmlns:a16="http://schemas.microsoft.com/office/drawing/2014/main" id="{F0EF4287-431A-E44C-8258-6A853F1871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20173" y="245640"/>
              <a:ext cx="223835" cy="217297"/>
            </a:xfrm>
            <a:prstGeom prst="rect">
              <a:avLst/>
            </a:prstGeom>
          </p:spPr>
        </p:pic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82149C6B-42D8-5E06-1024-D6CDC95B4C20}"/>
              </a:ext>
            </a:extLst>
          </p:cNvPr>
          <p:cNvSpPr/>
          <p:nvPr/>
        </p:nvSpPr>
        <p:spPr>
          <a:xfrm>
            <a:off x="8384208" y="4196981"/>
            <a:ext cx="275725" cy="291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92" name="그래픽 91">
            <a:extLst>
              <a:ext uri="{FF2B5EF4-FFF2-40B4-BE49-F238E27FC236}">
                <a16:creationId xmlns:a16="http://schemas.microsoft.com/office/drawing/2014/main" id="{B328AF25-C66A-125E-B21D-2B559CB4C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4208" y="4204912"/>
            <a:ext cx="275725" cy="275725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6104B24D-08E7-B7AA-D458-1E7599B911B8}"/>
              </a:ext>
            </a:extLst>
          </p:cNvPr>
          <p:cNvSpPr/>
          <p:nvPr/>
        </p:nvSpPr>
        <p:spPr>
          <a:xfrm>
            <a:off x="7188383" y="4026208"/>
            <a:ext cx="143456" cy="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CAA7E7DA-CD32-ED2F-98DF-9F3A66EF395E}"/>
              </a:ext>
            </a:extLst>
          </p:cNvPr>
          <p:cNvCxnSpPr>
            <a:cxnSpLocks/>
          </p:cNvCxnSpPr>
          <p:nvPr/>
        </p:nvCxnSpPr>
        <p:spPr>
          <a:xfrm flipH="1">
            <a:off x="7260112" y="3989600"/>
            <a:ext cx="1" cy="24080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3E4456C9-FA96-C859-F571-0B1EFFB6E428}"/>
              </a:ext>
            </a:extLst>
          </p:cNvPr>
          <p:cNvSpPr txBox="1"/>
          <p:nvPr/>
        </p:nvSpPr>
        <p:spPr>
          <a:xfrm rot="16200000">
            <a:off x="5829032" y="2737110"/>
            <a:ext cx="678511" cy="227100"/>
          </a:xfrm>
          <a:prstGeom prst="round2SameRect">
            <a:avLst>
              <a:gd name="adj1" fmla="val 39033"/>
              <a:gd name="adj2" fmla="val 0"/>
            </a:avLst>
          </a:prstGeom>
          <a:solidFill>
            <a:srgbClr val="F97600"/>
          </a:solidFill>
        </p:spPr>
        <p:txBody>
          <a:bodyPr vert="eaVert" wrap="square" lIns="72000" tIns="0" rIns="72000" bIns="18000" anchor="ctr" anchorCtr="0"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2</a:t>
            </a:r>
            <a:endParaRPr lang="ko-KR" altLang="en-US" sz="1300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90C084-4152-ED67-5C3F-0D34AC3FE8F6}"/>
              </a:ext>
            </a:extLst>
          </p:cNvPr>
          <p:cNvSpPr txBox="1"/>
          <p:nvPr/>
        </p:nvSpPr>
        <p:spPr>
          <a:xfrm rot="16200000">
            <a:off x="5981514" y="2091470"/>
            <a:ext cx="373549" cy="227100"/>
          </a:xfrm>
          <a:prstGeom prst="round2SameRect">
            <a:avLst>
              <a:gd name="adj1" fmla="val 19429"/>
              <a:gd name="adj2" fmla="val 0"/>
            </a:avLst>
          </a:prstGeom>
          <a:solidFill>
            <a:srgbClr val="F97600"/>
          </a:solidFill>
        </p:spPr>
        <p:txBody>
          <a:bodyPr vert="eaVert" wrap="square" lIns="72000" tIns="0" rIns="72000" bIns="18000" anchor="ctr" anchorCtr="0"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1</a:t>
            </a:r>
            <a:endParaRPr lang="ko-KR" altLang="en-US" sz="1300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063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  <a:headEnd type="none" w="med" len="sm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15451</TotalTime>
  <Words>56</Words>
  <Application>Microsoft Macintosh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SUIT</vt:lpstr>
      <vt:lpstr>SUIT Medium</vt:lpstr>
      <vt:lpstr>SUIT SemiBold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TaeYoon Kim</dc:creator>
  <cp:lastModifiedBy>김태윤</cp:lastModifiedBy>
  <cp:revision>46</cp:revision>
  <dcterms:created xsi:type="dcterms:W3CDTF">2025-05-08T06:14:44Z</dcterms:created>
  <dcterms:modified xsi:type="dcterms:W3CDTF">2026-04-28T16:15:56Z</dcterms:modified>
</cp:coreProperties>
</file>